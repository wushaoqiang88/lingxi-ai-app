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640080"/>
            <a:ext cx="201168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7498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📋 灵犀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PingFang SC"/>
              </a:rPr>
              <a:t>AI产品商业计划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5B4FC"/>
                </a:solidFill>
                <a:latin typeface="PingFang SC"/>
              </a:rPr>
              <a:t>面向企业智能工作流的一站式平台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5B4FC"/>
                </a:solidFill>
                <a:latin typeface="PingFang SC"/>
              </a:rPr>
              <a:t>Powered by Lingxi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210312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66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📑 目录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105156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517904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市场机会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市场洞察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0312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386584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产品定位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产品策略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97180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255264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核心功能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功能矩阵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84048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123943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33671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7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技术架构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34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技术底座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709159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1517904"/>
            <a:ext cx="438912" cy="43891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竞品对比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竞争分析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10312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2386584"/>
            <a:ext cx="438912" cy="43891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商业模式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盈利路径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97180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255264"/>
            <a:ext cx="438912" cy="43891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落地计划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执行路径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840480"/>
            <a:ext cx="4114800" cy="1371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市场洞察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01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数据来源：2025年中国AI行业报告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1541417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" y="2057400"/>
            <a:ext cx="23317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4F46E5"/>
                </a:solidFill>
                <a:latin typeface="PingFang SC"/>
              </a:rPr>
              <a:t>01</a:t>
            </a:r>
          </a:p>
        </p:txBody>
      </p:sp>
      <p:sp>
        <p:nvSpPr>
          <p:cNvPr id="14" name="Hexagon 13"/>
          <p:cNvSpPr/>
          <p:nvPr/>
        </p:nvSpPr>
        <p:spPr>
          <a:xfrm>
            <a:off x="2679191" y="2377440"/>
            <a:ext cx="502920" cy="502920"/>
          </a:xfrm>
          <a:prstGeom prst="hexagon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1872" y="3200400"/>
            <a:ext cx="1874519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企业AI渗透率仅12%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4480560"/>
            <a:ext cx="27432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9072" y="4645152"/>
            <a:ext cx="2743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2" y="4754880"/>
            <a:ext cx="274320" cy="27432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75304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2057400"/>
            <a:ext cx="233172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4F46E5"/>
                </a:solidFill>
                <a:latin typeface="PingFang SC"/>
              </a:rPr>
              <a:t>02</a:t>
            </a:r>
          </a:p>
        </p:txBody>
      </p:sp>
      <p:sp>
        <p:nvSpPr>
          <p:cNvPr id="23" name="Hexagon 22"/>
          <p:cNvSpPr/>
          <p:nvPr/>
        </p:nvSpPr>
        <p:spPr>
          <a:xfrm>
            <a:off x="5266944" y="2377440"/>
            <a:ext cx="502920" cy="502920"/>
          </a:xfrm>
          <a:prstGeom prst="hexagon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9624" y="3200400"/>
            <a:ext cx="1874519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知识工作自动化需求旺盛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41064" y="4297680"/>
            <a:ext cx="27432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4517136"/>
            <a:ext cx="274320" cy="512063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2584" y="4663440"/>
            <a:ext cx="274320" cy="3657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057400"/>
            <a:ext cx="23317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4F46E5"/>
                </a:solidFill>
                <a:latin typeface="PingFang SC"/>
              </a:rPr>
              <a:t>03</a:t>
            </a:r>
          </a:p>
        </p:txBody>
      </p:sp>
      <p:sp>
        <p:nvSpPr>
          <p:cNvPr id="32" name="Hexagon 31"/>
          <p:cNvSpPr/>
          <p:nvPr/>
        </p:nvSpPr>
        <p:spPr>
          <a:xfrm>
            <a:off x="7854696" y="2377440"/>
            <a:ext cx="502920" cy="502920"/>
          </a:xfrm>
          <a:prstGeom prst="hexagon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7376" y="3200400"/>
            <a:ext cx="1874519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中小企业缺乏低门槛工具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572000"/>
            <a:ext cx="27432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709160"/>
            <a:ext cx="274320" cy="320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336" y="4800600"/>
            <a:ext cx="274320" cy="22860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96528" y="2057400"/>
            <a:ext cx="233172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4F46E5"/>
                </a:solidFill>
                <a:latin typeface="PingFang SC"/>
              </a:rPr>
              <a:t>04</a:t>
            </a:r>
          </a:p>
        </p:txBody>
      </p:sp>
      <p:sp>
        <p:nvSpPr>
          <p:cNvPr id="41" name="Hexagon 40"/>
          <p:cNvSpPr/>
          <p:nvPr/>
        </p:nvSpPr>
        <p:spPr>
          <a:xfrm>
            <a:off x="10442448" y="2377440"/>
            <a:ext cx="502920" cy="502920"/>
          </a:xfrm>
          <a:prstGeom prst="hexagon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200400"/>
            <a:ext cx="1874519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市场预计年增长40%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8" y="4206240"/>
            <a:ext cx="2743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82328" y="4453128"/>
            <a:ext cx="274320" cy="5760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48088" y="4617720"/>
            <a:ext cx="274320" cy="41148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产品策略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02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6263640"/>
            <a:ext cx="3082834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1920240"/>
            <a:ext cx="731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103120"/>
            <a:ext cx="640080" cy="64008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  <a:latin typeface="PingFang SC"/>
              </a:rPr>
              <a:t>💡</a:t>
            </a:r>
          </a:p>
        </p:txBody>
      </p:sp>
      <p:sp>
        <p:nvSpPr>
          <p:cNvPr id="17" name="Oval 16"/>
          <p:cNvSpPr/>
          <p:nvPr/>
        </p:nvSpPr>
        <p:spPr>
          <a:xfrm>
            <a:off x="5285232" y="192024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聚焦写作/文档/图像/学习高频任务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73152" cy="11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  <a:latin typeface="PingFang SC"/>
              </a:rPr>
              <a:t>📊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192024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17352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提供移动端即开即用体验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" y="3657600"/>
            <a:ext cx="731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3840480"/>
            <a:ext cx="640080" cy="64008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  <a:latin typeface="PingFang SC"/>
              </a:rPr>
              <a:t>🎯</a:t>
            </a:r>
          </a:p>
        </p:txBody>
      </p:sp>
      <p:sp>
        <p:nvSpPr>
          <p:cNvPr id="31" name="Oval 30"/>
          <p:cNvSpPr/>
          <p:nvPr/>
        </p:nvSpPr>
        <p:spPr>
          <a:xfrm>
            <a:off x="5285232" y="365760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4104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0512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以真实文件和真实图片交付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657600"/>
            <a:ext cx="73152" cy="11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840480"/>
            <a:ext cx="640080" cy="64008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  <a:latin typeface="PingFang SC"/>
              </a:rPr>
              <a:t>⚡</a:t>
            </a:r>
          </a:p>
        </p:txBody>
      </p:sp>
      <p:sp>
        <p:nvSpPr>
          <p:cNvPr id="38" name="Oval 37"/>
          <p:cNvSpPr/>
          <p:nvPr/>
        </p:nvSpPr>
        <p:spPr>
          <a:xfrm>
            <a:off x="10698480" y="365760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17352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模板化降低使用成本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功能矩阵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4624251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AI文案创作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PPT/PDF/表格生成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92440" y="201168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智能修图换装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31920"/>
            <a:ext cx="594360" cy="5943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学习辅导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职业规划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92440" y="3931920"/>
            <a:ext cx="594360" cy="5943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B4B"/>
                </a:solidFill>
                <a:latin typeface="PingFang SC"/>
              </a:rPr>
              <a:t>情感陪伴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技术底座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技术架构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技术底座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6165668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用户输入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0662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79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0944" y="2267712"/>
            <a:ext cx="1719072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79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AI意图识别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09743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406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模块调度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1286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87183" y="2267712"/>
            <a:ext cx="1719072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结果生成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1598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9030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文件交付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竞争分析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竞品对比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770708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1783080"/>
            <a:ext cx="512064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核心要点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560320"/>
            <a:ext cx="457200" cy="4572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我们：真实文件输出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840479"/>
            <a:ext cx="457200" cy="4572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我们：移动端原生体验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120640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延伸分析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竞品：仅文字回复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840479"/>
            <a:ext cx="457200" cy="45720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PingFang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1B4B"/>
                </a:solidFill>
                <a:latin typeface="PingFang SC"/>
              </a:rPr>
              <a:t>竞品：PC端为主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6263640"/>
            <a:ext cx="770708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盈利路径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92485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017520"/>
            <a:ext cx="10424160" cy="73152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288036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3611880"/>
            <a:ext cx="1865376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  <a:latin typeface="PingFang SC"/>
              </a:rPr>
              <a:t>免费基础功能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60" y="288036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67912" y="3611880"/>
            <a:ext cx="1865376" cy="29260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  <a:latin typeface="PingFang SC"/>
              </a:rPr>
              <a:t>会员订阅制</a:t>
            </a:r>
          </a:p>
        </p:txBody>
      </p:sp>
      <p:sp>
        <p:nvSpPr>
          <p:cNvPr id="25" name="Oval 24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288036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68312" y="3611880"/>
            <a:ext cx="1865376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  <a:latin typeface="PingFang SC"/>
              </a:rPr>
              <a:t>企业定制方案</a:t>
            </a:r>
          </a:p>
        </p:txBody>
      </p:sp>
      <p:sp>
        <p:nvSpPr>
          <p:cNvPr id="32" name="Oval 31"/>
          <p:cNvSpPr/>
          <p:nvPr/>
        </p:nvSpPr>
        <p:spPr>
          <a:xfrm>
            <a:off x="105613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52760" y="288036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624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68712" y="3611880"/>
            <a:ext cx="1865376" cy="29260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  <a:latin typeface="PingFang SC"/>
              </a:rPr>
              <a:t>API开放平台</a:t>
            </a:r>
          </a:p>
        </p:txBody>
      </p:sp>
      <p:sp>
        <p:nvSpPr>
          <p:cNvPr id="39" name="Diamond 38"/>
          <p:cNvSpPr/>
          <p:nvPr/>
        </p:nvSpPr>
        <p:spPr>
          <a:xfrm>
            <a:off x="10972800" y="1645920"/>
            <a:ext cx="548640" cy="548640"/>
          </a:xfrm>
          <a:prstGeom prst="diamond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执行路径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落地计划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执行路径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1B4B"/>
                </a:solidFill>
                <a:latin typeface="PingFang SC"/>
              </a:rPr>
              <a:t>落地计划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07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核心闭环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0662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79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0944" y="2267712"/>
            <a:ext cx="1719072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79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真实生成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09743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406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会员体系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1286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87183" y="2267712"/>
            <a:ext cx="1719072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用户增长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15984" y="3291840"/>
            <a:ext cx="164592" cy="45720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90304" y="2267712"/>
            <a:ext cx="1719072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46E5"/>
                </a:solidFill>
                <a:latin typeface="PingFang SC"/>
              </a:rP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PingFang SC"/>
              </a:rPr>
              <a:t>持续迭代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5486400" y="457200"/>
            <a:ext cx="914400" cy="914400"/>
          </a:xfrm>
          <a:prstGeom prst="diamond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5B4FC"/>
                </a:solidFill>
                <a:latin typeface="PingFang SC"/>
              </a:rPr>
              <a:t>谢谢观看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38328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5B4FC"/>
                </a:solidFill>
                <a:latin typeface="PingFang SC"/>
              </a:rPr>
              <a:t>Powered by 灵犀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14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B4FC"/>
                </a:solidFill>
                <a:latin typeface="PingFang SC"/>
              </a:rPr>
              <a:t>AI产品商业计划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5029200"/>
            <a:ext cx="109728" cy="109728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