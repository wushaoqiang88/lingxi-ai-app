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914400"/>
            <a:ext cx="4389120" cy="43891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114800"/>
            <a:ext cx="2011680" cy="2011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31520"/>
            <a:ext cx="155448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832104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LINGXI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6949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PingFang SC"/>
              </a:rPr>
              <a:t>智启未来：AI产品商业计划书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CBD5E1"/>
                </a:solidFill>
                <a:latin typeface="PingFang SC"/>
              </a:rPr>
              <a:t>以技术为基、场景为锚、价值为尺的可规模化AI商业路径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892040"/>
            <a:ext cx="34747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2E8F0"/>
                </a:solidFill>
                <a:latin typeface="PingFang SC"/>
              </a:rPr>
              <a:t>AI 生成内容 / 自动排版 / 可编辑 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13258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85216"/>
            <a:ext cx="10789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市场洞察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50976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市场分析：千亿级增量市场的结构性机会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943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PingFang SC"/>
              </a:rPr>
              <a:t>01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0" y="1005840"/>
            <a:ext cx="173736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3794759"/>
            <a:ext cx="1417320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397763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全球AI软件市场2025年将达1,260亿美元，CAGR 28.4%（Statista）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593591"/>
            <a:ext cx="1417320" cy="129844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5072" y="37764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5120640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国内企业AI采纳率仅37%，但需求增速超65%（IDC 2024）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392424"/>
            <a:ext cx="1417320" cy="14996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35753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120640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垂直场景缺口显著：金融风控、制造质检、医疗初筛三大领域供给不足率＞42%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39" y="3191256"/>
            <a:ext cx="1417320" cy="170078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82911" y="337413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399" y="5120640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政策强驱动：‘人工智能+’行动方案明确要求2025年落地10万+行业应用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919472"/>
            <a:ext cx="9784080" cy="5486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640080"/>
            <a:ext cx="2011680" cy="2011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13258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585216"/>
            <a:ext cx="10789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产品定位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50976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产品定位：专注B端高价值闭环场景的轻量级AI引擎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943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PingFang SC"/>
              </a:rPr>
              <a:t>02 /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9509760" y="1005840"/>
            <a:ext cx="173736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874519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130552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2267712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344" y="2103120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核心形态：API优先的模块化AI能力平台（非通用大模型）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874519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90488" y="2130552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267712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1" y="2103120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聚焦三类客户：中型制造业ERP用户、区域性银行信贷部门、基层医疗机构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33756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593591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3730752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9344" y="3566160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差异化锚点：开箱即用的行业微调模板+本地化数据合规沙箱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333756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90488" y="3593591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3730752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1" y="3566160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关键指标：平均部署周期＜72小时，推理延迟＜300ms，POC转单率目标68%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989320"/>
            <a:ext cx="1078992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989320"/>
            <a:ext cx="359664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640080"/>
            <a:ext cx="2011680" cy="2011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13258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585216"/>
            <a:ext cx="10789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商业模式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50976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商业模式：三层价值变现体系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943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PingFang SC"/>
              </a:rPr>
              <a:t>03 /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9509760" y="1005840"/>
            <a:ext cx="173736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874519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130552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2267712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344" y="2103120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基础层：按调用量计费的API订阅（占首年收入60%）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874519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90488" y="2130552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267712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1" y="2103120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增强层：行业知识包授权+私有模型微调服务（溢价35%-50%）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33756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593591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3730752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9344" y="3566160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生态层：与ISV共建解决方案分成（如与MES厂商联合交付智能质检套件）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333756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90488" y="3593591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3730752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1" y="3566160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LTV/CAC目标＞4.2，首年盈亏平衡点设定在第14个月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989320"/>
            <a:ext cx="1078992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989320"/>
            <a:ext cx="5394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13258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85216"/>
            <a:ext cx="10789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落地路径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50976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落地计划：分阶段穿透关键客户群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943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PingFang SC"/>
              </a:rPr>
              <a:t>04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0" y="1005840"/>
            <a:ext cx="173736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3154680"/>
            <a:ext cx="99669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880360"/>
            <a:ext cx="585216" cy="5852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044952"/>
            <a:ext cx="182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49039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50208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Q3-Q4 2024：完成3家标杆客户POC（1家汽配厂、1家城商行、1家县域医共体）</a:t>
            </a:r>
          </a:p>
        </p:txBody>
      </p:sp>
      <p:sp>
        <p:nvSpPr>
          <p:cNvPr id="12" name="Oval 11"/>
          <p:cNvSpPr/>
          <p:nvPr/>
        </p:nvSpPr>
        <p:spPr>
          <a:xfrm>
            <a:off x="4023360" y="2880360"/>
            <a:ext cx="585216" cy="5852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4528" y="3044952"/>
            <a:ext cx="182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3749039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40" y="3950208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Q1-Q2 2025：上线SaaS化控制台，签约20+渠道伙伴，启动ISO 27001认证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0" y="2880360"/>
            <a:ext cx="585216" cy="5852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3044952"/>
            <a:ext cx="182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3749039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3950208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Q3 2025：发布行业SDK 2.0，开放低代码集成能力，启动出海试点（东南亚制造业）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0" y="2880360"/>
            <a:ext cx="585216" cy="5852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42448" y="3044952"/>
            <a:ext cx="182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3749039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59" y="3950208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2026全年：实现3个垂直行业市占率进入Top 5，ARR突破1.8亿元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640080"/>
            <a:ext cx="2011680" cy="2011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13258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585216"/>
            <a:ext cx="10789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风险控制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50976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风险控制：技术、合规与市场三维防御机制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943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PingFang SC"/>
              </a:rPr>
              <a:t>05 /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9509760" y="1005840"/>
            <a:ext cx="173736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874519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130552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2267712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344" y="2103120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技术风险：双模型冗余架构（主模型+轻量化备用模型），故障自动切换RTO＜8秒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874519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90488" y="2130552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267712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1" y="2103120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合规风险：全链路数据不出域设计，通过等保三级+GDPR兼容审计，合同嵌入AI责任边界条款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33756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593591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3730752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9344" y="3566160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市场风险：设置动态价格保护条款（首年调用量未达承诺值80%时自动降档计费）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333756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90488" y="3593591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3730752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1" y="3566160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供应链风险：核心算力资源与2家云厂商签订SLA兜底协议（可用性≥99.95%）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989320"/>
            <a:ext cx="1078992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989320"/>
            <a:ext cx="899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13258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85216"/>
            <a:ext cx="10789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战略收口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50976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核心壁垒与下一步：构建可持续的AI商业护城河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943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PingFang SC"/>
              </a:rPr>
              <a:t>06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0" y="1005840"/>
            <a:ext cx="173736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3794759"/>
            <a:ext cx="1417320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397763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已沉淀12个行业标注数据集（含独家产线缺陷图谱），受版权保护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593591"/>
            <a:ext cx="1417320" cy="129844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5072" y="37764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5120640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专利布局完成：3项边缘推理优化专利已受理，2项行业适配方法论正在申报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392424"/>
            <a:ext cx="1417320" cy="14996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35753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120640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团队优势：CTO来自头部AI芯片公司，COO具备5个工业AI项目从0到亿级交付经验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39" y="3191256"/>
            <a:ext cx="1417320" cy="170078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82911" y="337413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399" y="5120640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下一步动作：下周启动Pre-A轮融资，释放15%股权，资金重点投向医疗垂类认证与信创适配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919472"/>
            <a:ext cx="9784080" cy="5486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914400"/>
            <a:ext cx="2377440" cy="2377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3291840"/>
            <a:ext cx="3200400" cy="3200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251460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F172A"/>
                </a:solidFill>
                <a:latin typeface="PingFang SC"/>
              </a:rPr>
              <a:t>谢谢！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3401568"/>
            <a:ext cx="6263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  <a:latin typeface="PingFang SC"/>
              </a:rPr>
              <a:t>由灵犀 AI 生成真实可编辑 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