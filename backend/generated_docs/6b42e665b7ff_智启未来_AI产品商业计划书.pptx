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5029200" cy="5029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2286000"/>
            <a:ext cx="1371600" cy="1371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6858000" y="457200"/>
            <a:ext cx="1645920" cy="1645920"/>
          </a:xfrm>
          <a:prstGeom prst="diamond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0" y="914400"/>
            <a:ext cx="228600" cy="22860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0" y="5029200"/>
            <a:ext cx="164592" cy="16459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3200400"/>
            <a:ext cx="137160" cy="13716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640080"/>
            <a:ext cx="18288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74980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🚀 灵犀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PingFang SC"/>
              </a:rPr>
              <a:t>智启未来：AI产品商业计划书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20440"/>
            <a:ext cx="4114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3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CBD5E1"/>
                </a:solidFill>
                <a:latin typeface="PingFang SC"/>
              </a:rPr>
              <a:t>以技术为基，以价值为锚，构建可持续AI商业生态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CBD5E1"/>
                </a:solidFill>
                <a:latin typeface="PingFang SC"/>
              </a:rPr>
              <a:t>AI 生成内容 · 专业排版 · 可编辑 PPTX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5760720"/>
            <a:ext cx="109728" cy="109728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17319" y="5760720"/>
            <a:ext cx="109728" cy="109728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37360" y="5760720"/>
            <a:ext cx="109728" cy="109728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57400" y="5760720"/>
            <a:ext cx="109728" cy="109728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77440" y="5760720"/>
            <a:ext cx="109728" cy="109728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457200"/>
            <a:ext cx="1828800" cy="18288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-274320" y="5669280"/>
            <a:ext cx="914400" cy="914400"/>
          </a:xfrm>
          <a:prstGeom prst="diamond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457200"/>
            <a:ext cx="210312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669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📑 目录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105156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517904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08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市场分析：千亿级增长引擎已启动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市场洞察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103120"/>
            <a:ext cx="4114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386584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49631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774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产品定位：做垂直场景的AI效率中枢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9747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价值主张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971800"/>
            <a:ext cx="4114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255264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36499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46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技术架构：三层解耦，安全可控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技术底座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3840480"/>
            <a:ext cx="4114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12394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233671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1479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商业模式：价值导向的阶梯式变现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348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盈利路径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709159"/>
            <a:ext cx="4114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1517904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162763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1508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竞品分析：错位卡位，直击痛点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竞争格局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103120"/>
            <a:ext cx="4114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6520" y="2386584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249631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3774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落地计划：三步走，稳扎稳打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69747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实施路径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2971800"/>
            <a:ext cx="4114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46520" y="3255264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336499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246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风险控制：预判七类风险，前置五道防线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3566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PingFang SC"/>
              </a:rPr>
              <a:t>稳健运营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3840480"/>
            <a:ext cx="4114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市场洞察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市场分析：千亿级增长引擎已启动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01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PingFang SC"/>
              </a:rPr>
              <a:t>数据来源：IDC 2024H1、艾瑞咨询《AI商业化落地白皮书》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1541417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3272" y="2057400"/>
            <a:ext cx="23317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563EB"/>
                </a:solidFill>
                <a:latin typeface="PingFang SC"/>
              </a:rPr>
              <a:t>01</a:t>
            </a:r>
          </a:p>
        </p:txBody>
      </p:sp>
      <p:sp>
        <p:nvSpPr>
          <p:cNvPr id="14" name="Hexagon 13"/>
          <p:cNvSpPr/>
          <p:nvPr/>
        </p:nvSpPr>
        <p:spPr>
          <a:xfrm>
            <a:off x="2679191" y="2377440"/>
            <a:ext cx="502920" cy="502920"/>
          </a:xfrm>
          <a:prstGeom prst="hexagon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61872" y="3200400"/>
            <a:ext cx="1874519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全球AI软件市场2027年将达$1.3T（CAGR 37.3%）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3312" y="4480560"/>
            <a:ext cx="2743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9072" y="4645152"/>
            <a:ext cx="27432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84832" y="4754880"/>
            <a:ext cx="274320" cy="27432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75304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21024" y="2057400"/>
            <a:ext cx="233172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9624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563EB"/>
                </a:solidFill>
                <a:latin typeface="PingFang SC"/>
              </a:rPr>
              <a:t>02</a:t>
            </a:r>
          </a:p>
        </p:txBody>
      </p:sp>
      <p:sp>
        <p:nvSpPr>
          <p:cNvPr id="23" name="Hexagon 22"/>
          <p:cNvSpPr/>
          <p:nvPr/>
        </p:nvSpPr>
        <p:spPr>
          <a:xfrm>
            <a:off x="5266944" y="2377440"/>
            <a:ext cx="502920" cy="502920"/>
          </a:xfrm>
          <a:prstGeom prst="hexagon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9624" y="3200400"/>
            <a:ext cx="1874519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03904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中国AI企业服务渗透率不足18%，存在结构性缺口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41064" y="4297680"/>
            <a:ext cx="2743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06824" y="4517136"/>
            <a:ext cx="274320" cy="512063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72584" y="4663440"/>
            <a:ext cx="274320" cy="36576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63056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8776" y="2057400"/>
            <a:ext cx="23317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563EB"/>
                </a:solidFill>
                <a:latin typeface="PingFang SC"/>
              </a:rPr>
              <a:t>03</a:t>
            </a:r>
          </a:p>
        </p:txBody>
      </p:sp>
      <p:sp>
        <p:nvSpPr>
          <p:cNvPr id="32" name="Hexagon 31"/>
          <p:cNvSpPr/>
          <p:nvPr/>
        </p:nvSpPr>
        <p:spPr>
          <a:xfrm>
            <a:off x="7854696" y="2377440"/>
            <a:ext cx="502920" cy="502920"/>
          </a:xfrm>
          <a:prstGeom prst="hexagon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37376" y="3200400"/>
            <a:ext cx="1874519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1656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金融、制造、医疗三大行业AI采纳率年增超45%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28816" y="4572000"/>
            <a:ext cx="2743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94576" y="4709160"/>
            <a:ext cx="27432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0336" y="4800600"/>
            <a:ext cx="274320" cy="2286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50808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96528" y="2057400"/>
            <a:ext cx="233172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5128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563EB"/>
                </a:solidFill>
                <a:latin typeface="PingFang SC"/>
              </a:rPr>
              <a:t>04</a:t>
            </a:r>
          </a:p>
        </p:txBody>
      </p:sp>
      <p:sp>
        <p:nvSpPr>
          <p:cNvPr id="41" name="Hexagon 40"/>
          <p:cNvSpPr/>
          <p:nvPr/>
        </p:nvSpPr>
        <p:spPr>
          <a:xfrm>
            <a:off x="10442448" y="2377440"/>
            <a:ext cx="502920" cy="502920"/>
          </a:xfrm>
          <a:prstGeom prst="hexagon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25128" y="3200400"/>
            <a:ext cx="1874519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79408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中小企AI需求从‘尝鲜’转向‘刚需’，预算中位数提升2.1倍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16568" y="4206240"/>
            <a:ext cx="27432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82328" y="4453128"/>
            <a:ext cx="274320" cy="5760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48088" y="4617720"/>
            <a:ext cx="274320" cy="41148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价值主张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产品定位：做垂直场景的AI效率中枢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02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PingFang SC"/>
              </a:rPr>
              <a:t>拒绝‘万能AI’叙事，用‘场景精度’建立竞争护城河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3082834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173736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783080"/>
            <a:ext cx="512064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47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PingFang SC"/>
              </a:rPr>
              <a:t>✦ 核心要点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2560320"/>
            <a:ext cx="457200" cy="457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2670048"/>
            <a:ext cx="137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PingFang S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514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≠通用大模型平台｜聚焦B端流程提效（非C端娱乐）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3840479"/>
            <a:ext cx="457200" cy="457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3950207"/>
            <a:ext cx="137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9475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≠黑盒SaaS工具｜提供可解释、可审计、可嵌入的AI模块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3736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1783080"/>
            <a:ext cx="512064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847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PingFang SC"/>
              </a:rPr>
              <a:t>✦ 延伸分析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2560320"/>
            <a:ext cx="457200" cy="457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2670048"/>
            <a:ext cx="137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  <a:latin typeface="PingFang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514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核心场景：智能工单分派、合规文档自检、产线异常预测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3840479"/>
            <a:ext cx="457200" cy="457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3950207"/>
            <a:ext cx="137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79475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交付形态：API+低代码配置台+私有化部署三模并行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63640"/>
            <a:ext cx="3082834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技术底座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技术架构：三层解耦，安全可控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03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PingFang SC"/>
              </a:rPr>
              <a:t>通过架构分层实现模型迭代与业务逻辑解耦，保障客户系统零侵入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4624251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2267712"/>
            <a:ext cx="1719072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PingFang SC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PingFang SC"/>
              </a:rPr>
              <a:t>感知层：多源异构数据接入（ERP/OT/OCR/API）+ 实时流处理引擎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11779" y="3291840"/>
            <a:ext cx="480060" cy="457200"/>
          </a:xfrm>
          <a:prstGeom prst="rightArrow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5186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06724" y="2267712"/>
            <a:ext cx="1719072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046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622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PingFang SC"/>
              </a:rP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902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PingFang SC"/>
              </a:rPr>
              <a:t>认知层：领域微调模型矩阵（Llama-3-Base + 行业知识图谱注入）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440680" y="3291840"/>
            <a:ext cx="480060" cy="457200"/>
          </a:xfrm>
          <a:prstGeom prst="rightArrow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8076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35624" y="2267712"/>
            <a:ext cx="1719072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PingFang SC"/>
              </a:rPr>
              <a:t>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PingFang SC"/>
              </a:rPr>
              <a:t>执行层：规则引擎+RAG增强+人工反馈闭环（Human-in-the-Loop）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069580" y="3291840"/>
            <a:ext cx="480060" cy="457200"/>
          </a:xfrm>
          <a:prstGeom prst="rightArrow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0966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64524" y="2267712"/>
            <a:ext cx="1719072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3826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402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PingFang SC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682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PingFang SC"/>
              </a:rPr>
              <a:t>全栈国产化适配：支持麒麟OS、昇腾910B、海光DCU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3200400" cy="3200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029200" y="457200"/>
            <a:ext cx="1371600" cy="1371600"/>
          </a:xfrm>
          <a:prstGeom prst="diamond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2286000"/>
            <a:ext cx="25603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23591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盈利路径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PingFang SC"/>
              </a:rPr>
              <a:t>商业模式：价值导向的阶梯式变现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21031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盈利路径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商业模式：价值导向的阶梯式变现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04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PingFang SC"/>
              </a:rPr>
              <a:t>首年客户LTV/CAC &gt; 4.2，显著优于行业均值2.8（Gartner 2024）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6165668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017520"/>
            <a:ext cx="10424160" cy="73152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28803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3611880"/>
            <a:ext cx="1865376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PingFang SC"/>
              </a:rPr>
              <a:t>阶段1（0–6月）：免费POC+成功费（按效果付费，如工单处理时效提升≥30%）</a:t>
            </a:r>
          </a:p>
        </p:txBody>
      </p:sp>
      <p:sp>
        <p:nvSpPr>
          <p:cNvPr id="19" name="Oval 18"/>
          <p:cNvSpPr/>
          <p:nvPr/>
        </p:nvSpPr>
        <p:spPr>
          <a:xfrm>
            <a:off x="41605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51960" y="28803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67912" y="3611880"/>
            <a:ext cx="1865376" cy="29260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PingFang SC"/>
              </a:rPr>
              <a:t>阶段2（6–18月）：订阅制（按API调用量+并发节点数计费）</a:t>
            </a:r>
          </a:p>
        </p:txBody>
      </p:sp>
      <p:sp>
        <p:nvSpPr>
          <p:cNvPr id="26" name="Oval 25"/>
          <p:cNvSpPr/>
          <p:nvPr/>
        </p:nvSpPr>
        <p:spPr>
          <a:xfrm>
            <a:off x="73609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52360" y="28803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20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951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68312" y="3611880"/>
            <a:ext cx="1865376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PingFang SC"/>
              </a:rPr>
              <a:t>阶段3（18+月）：增值模块授权（如合规审计包、预测性维护包）</a:t>
            </a:r>
          </a:p>
        </p:txBody>
      </p:sp>
      <p:sp>
        <p:nvSpPr>
          <p:cNvPr id="33" name="Oval 32"/>
          <p:cNvSpPr/>
          <p:nvPr/>
        </p:nvSpPr>
        <p:spPr>
          <a:xfrm>
            <a:off x="105613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52760" y="28803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624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268712" y="3611880"/>
            <a:ext cx="1865376" cy="29260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784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PingFang SC"/>
              </a:rPr>
              <a:t>长期壁垒：客户数据飞轮——每千家企业训练1个专属轻量模型</a:t>
            </a:r>
          </a:p>
        </p:txBody>
      </p:sp>
      <p:sp>
        <p:nvSpPr>
          <p:cNvPr id="40" name="Diamond 39"/>
          <p:cNvSpPr/>
          <p:nvPr/>
        </p:nvSpPr>
        <p:spPr>
          <a:xfrm>
            <a:off x="10972800" y="1645920"/>
            <a:ext cx="548640" cy="548640"/>
          </a:xfrm>
          <a:prstGeom prst="diamond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竞品分析：错位卡位，直击痛点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05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PingFang SC"/>
              </a:rPr>
              <a:t>图标化呈现四维对比（技术深度/行业厚度/交付速度/合规完备性）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770708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01168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21305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0574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A公司（云厂商）｜优势：算力资源｜短板：行业理解浅、定制成本高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80" y="2011680"/>
            <a:ext cx="594360" cy="5943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21305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0574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B公司（传统ISV）｜优势：客户关系｜短板：AI能力单薄、迭代周期＞3个月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8288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92440" y="201168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21305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0574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C公司（初创AI）｜优势：算法前沿｜短板：无交付体系、无合规认证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749039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3931920"/>
            <a:ext cx="594360" cy="5943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" y="4050791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977639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我方策略：‘行业Know-How × 轻量化AI’双引擎，交付周期压缩至14天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实施路径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落地计划：三步走，稳扎稳打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06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PingFang SC"/>
              </a:rPr>
              <a:t>每个里程碑绑定明确KPI与风控检查点（如POC失败自动触发根因复盘机制）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924850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017520"/>
            <a:ext cx="10424160" cy="73152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28803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3611880"/>
            <a:ext cx="1865376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PingFang SC"/>
              </a:rPr>
              <a:t>Q3 2024：完成2家标杆客户POC（1家制造业+1家保险业）</a:t>
            </a:r>
          </a:p>
        </p:txBody>
      </p:sp>
      <p:sp>
        <p:nvSpPr>
          <p:cNvPr id="19" name="Oval 18"/>
          <p:cNvSpPr/>
          <p:nvPr/>
        </p:nvSpPr>
        <p:spPr>
          <a:xfrm>
            <a:off x="41605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51960" y="28803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67912" y="3611880"/>
            <a:ext cx="1865376" cy="29260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PingFang SC"/>
              </a:rPr>
              <a:t>Q4 2024：发布V1.5产品套件，取得等保三级+ISO 27001认证</a:t>
            </a:r>
          </a:p>
        </p:txBody>
      </p:sp>
      <p:sp>
        <p:nvSpPr>
          <p:cNvPr id="26" name="Oval 25"/>
          <p:cNvSpPr/>
          <p:nvPr/>
        </p:nvSpPr>
        <p:spPr>
          <a:xfrm>
            <a:off x="73609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52360" y="28803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20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951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68312" y="3611880"/>
            <a:ext cx="1865376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PingFang SC"/>
              </a:rPr>
              <a:t>Q1 2025：启动渠道伙伴计划，签约5家区域ISV联合交付</a:t>
            </a:r>
          </a:p>
        </p:txBody>
      </p:sp>
      <p:sp>
        <p:nvSpPr>
          <p:cNvPr id="33" name="Oval 32"/>
          <p:cNvSpPr/>
          <p:nvPr/>
        </p:nvSpPr>
        <p:spPr>
          <a:xfrm>
            <a:off x="105613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52760" y="28803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624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268712" y="3611880"/>
            <a:ext cx="1865376" cy="29260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784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PingFang SC"/>
              </a:rPr>
              <a:t>Q2 2025：开放开发者平台，上线10+预置行业工作流模板</a:t>
            </a:r>
          </a:p>
        </p:txBody>
      </p:sp>
      <p:sp>
        <p:nvSpPr>
          <p:cNvPr id="40" name="Diamond 39"/>
          <p:cNvSpPr/>
          <p:nvPr/>
        </p:nvSpPr>
        <p:spPr>
          <a:xfrm>
            <a:off x="10972800" y="1645920"/>
            <a:ext cx="548640" cy="548640"/>
          </a:xfrm>
          <a:prstGeom prst="diamond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3200400" cy="3200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029200" y="457200"/>
            <a:ext cx="1371600" cy="1371600"/>
          </a:xfrm>
          <a:prstGeom prst="diamond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2286000"/>
            <a:ext cx="25603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23591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稳健运营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PingFang SC"/>
              </a:rPr>
              <a:t>风险控制：预判七类风险，前置五道防线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21031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457200"/>
            <a:ext cx="1828800" cy="18288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-274320" y="5669280"/>
            <a:ext cx="914400" cy="914400"/>
          </a:xfrm>
          <a:prstGeom prst="diamond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稳健运营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风险控制：预判七类风险，前置五道防线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PingFang SC"/>
              </a:rPr>
              <a:t>07 /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PingFang SC"/>
              </a:rPr>
              <a:t>所有防线均对应可审计动作与负责人，非原则性描述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178308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" y="19202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2103120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2402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563EB"/>
                </a:solidFill>
                <a:latin typeface="PingFang SC"/>
              </a:rPr>
              <a:t>💡</a:t>
            </a:r>
          </a:p>
        </p:txBody>
      </p:sp>
      <p:sp>
        <p:nvSpPr>
          <p:cNvPr id="18" name="Oval 17"/>
          <p:cNvSpPr/>
          <p:nvPr/>
        </p:nvSpPr>
        <p:spPr>
          <a:xfrm>
            <a:off x="5285232" y="19202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4104" y="20025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205740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技术风险｜防线：模型漂移监控+季度重训机制+沙箱灰度发布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78308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920240"/>
            <a:ext cx="73152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2402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563EB"/>
                </a:solidFill>
                <a:latin typeface="PingFang SC"/>
              </a:rPr>
              <a:t>📊</a:t>
            </a:r>
          </a:p>
        </p:txBody>
      </p:sp>
      <p:sp>
        <p:nvSpPr>
          <p:cNvPr id="25" name="Oval 24"/>
          <p:cNvSpPr/>
          <p:nvPr/>
        </p:nvSpPr>
        <p:spPr>
          <a:xfrm>
            <a:off x="10698480" y="192024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17352" y="20025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05740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合规风险｜防线：内置GDPR/个保法检查项+客户数据主权协议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52044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" y="365760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552" y="3840480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3977639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563EB"/>
                </a:solidFill>
                <a:latin typeface="PingFang SC"/>
              </a:rPr>
              <a:t>🎯</a:t>
            </a:r>
          </a:p>
        </p:txBody>
      </p:sp>
      <p:sp>
        <p:nvSpPr>
          <p:cNvPr id="32" name="Oval 31"/>
          <p:cNvSpPr/>
          <p:nvPr/>
        </p:nvSpPr>
        <p:spPr>
          <a:xfrm>
            <a:off x="5285232" y="365760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04104" y="373989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10512" y="379476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市场风险｜防线：动态价格带设计（基础版/专业版/旗舰版）+弹性合约条款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52044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3657600"/>
            <a:ext cx="73152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3840480"/>
            <a:ext cx="640080" cy="64008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3977639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563EB"/>
                </a:solidFill>
                <a:latin typeface="PingFang SC"/>
              </a:rPr>
              <a:t>⚡</a:t>
            </a:r>
          </a:p>
        </p:txBody>
      </p:sp>
      <p:sp>
        <p:nvSpPr>
          <p:cNvPr id="39" name="Oval 38"/>
          <p:cNvSpPr/>
          <p:nvPr/>
        </p:nvSpPr>
        <p:spPr>
          <a:xfrm>
            <a:off x="10698480" y="365760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17352" y="373989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379476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交付风险｜防线：标准化实施手册+远程交付中心+SLA赔付承诺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0"/>
            <a:ext cx="1828800" cy="18288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200400"/>
            <a:ext cx="3657600" cy="3657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"/>
            <a:ext cx="1371600" cy="1371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5486400" y="457200"/>
            <a:ext cx="914400" cy="914400"/>
          </a:xfrm>
          <a:prstGeom prst="diamond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PingFang SC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BD5E1"/>
                </a:solidFill>
                <a:latin typeface="PingFang SC"/>
              </a:rPr>
              <a:t>谢谢观看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383280"/>
            <a:ext cx="21031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3657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BD5E1"/>
                </a:solidFill>
                <a:latin typeface="PingFang SC"/>
              </a:rPr>
              <a:t>Powered by 灵犀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1148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PingFang SC"/>
              </a:rPr>
              <a:t>智启未来：AI产品商业计划书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5029200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5029200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20640" y="5029200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23560" y="5029200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0" y="5029200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5029200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0" y="5029200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35240" y="5029200"/>
            <a:ext cx="109728" cy="109728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