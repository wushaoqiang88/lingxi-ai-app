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029200" cy="5029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28600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6858000" y="457200"/>
            <a:ext cx="1645920" cy="1645920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914400"/>
            <a:ext cx="228600" cy="2286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0" y="5029200"/>
            <a:ext cx="164592" cy="164592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3200400"/>
            <a:ext cx="137160" cy="13716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640080"/>
            <a:ext cx="182880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749808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🚀 灵犀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PingFang SC"/>
              </a:rPr>
              <a:t>2024年度全景总结报告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520440"/>
            <a:ext cx="4114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3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A7F3D0"/>
                </a:solidFill>
                <a:latin typeface="PingFang SC"/>
              </a:rPr>
              <a:t>聚焦成果、复盘成长、锚定未来增长引擎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A7F3D0"/>
                </a:solidFill>
                <a:latin typeface="PingFang SC"/>
              </a:rPr>
              <a:t>AI 生成内容 · 专业排版 · 可编辑 PPTX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76072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17319" y="576072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37360" y="576072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57400" y="576072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77440" y="576072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457200"/>
            <a:ext cx="1828800" cy="18288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-274320" y="5669280"/>
            <a:ext cx="914400" cy="914400"/>
          </a:xfrm>
          <a:prstGeom prst="diamond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57200"/>
            <a:ext cx="210312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669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📑 目录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10515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517904"/>
            <a:ext cx="438912" cy="43891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目录概览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475569"/>
                </a:solidFill>
                <a:latin typeface="PingFang SC"/>
              </a:rPr>
              <a:t>报告导航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103120"/>
            <a:ext cx="4114800" cy="1371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386584"/>
            <a:ext cx="438912" cy="43891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49631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77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年度核心业绩达成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974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475569"/>
                </a:solidFill>
                <a:latin typeface="PingFang SC"/>
              </a:rPr>
              <a:t>目标 vs 实际（KPI仪表盘）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971800"/>
            <a:ext cx="4114800" cy="1371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255264"/>
            <a:ext cx="438912" cy="43891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6499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46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关键项目里程碑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475569"/>
                </a:solidFill>
                <a:latin typeface="PingFang SC"/>
              </a:rPr>
              <a:t>从交付到价值落地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840480"/>
            <a:ext cx="4114800" cy="1371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123943"/>
            <a:ext cx="438912" cy="43891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233671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1479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组织能力升级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34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475569"/>
                </a:solidFill>
                <a:latin typeface="PingFang SC"/>
              </a:rPr>
              <a:t>人才·机制·文化三维进化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4709159"/>
            <a:ext cx="4114800" cy="1371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1517904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162763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508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客户与市场反馈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828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475569"/>
                </a:solidFill>
                <a:latin typeface="PingFang SC"/>
              </a:rPr>
              <a:t>声音即方向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2103120"/>
            <a:ext cx="4114800" cy="1371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6520" y="2386584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49631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3774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财务健康度分析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69747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475569"/>
                </a:solidFill>
                <a:latin typeface="PingFang SC"/>
              </a:rPr>
              <a:t>稳健性·可持续性·杠杆力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2971800"/>
            <a:ext cx="4114800" cy="1371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6520" y="3255264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3364992"/>
            <a:ext cx="21945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246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2025战略行动路线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566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475569"/>
                </a:solidFill>
                <a:latin typeface="PingFang SC"/>
              </a:rPr>
              <a:t>三个聚焦 · 五大引擎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840480"/>
            <a:ext cx="4114800" cy="1371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报告导航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目录概览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PingFang SC"/>
              </a:rPr>
              <a:t>01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PingFang SC"/>
              </a:rPr>
              <a:t>本报告基于全业务线真实数据，覆盖1月1日–12月31日完整财年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1541417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01168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一、年度核心业绩达成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80" y="201168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二、关键项目里程碑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82880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92440" y="201168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21305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0574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三、组织能力升级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749039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0120" y="39319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40507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977639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四、客户与市场反馈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749039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26280" y="3931920"/>
            <a:ext cx="594360" cy="5943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4296" y="40507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977639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五、财务健康度分析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3749039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92440" y="3931920"/>
            <a:ext cx="594360" cy="5943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0456" y="40507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PingFang SC"/>
              </a:rPr>
              <a:t>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977639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六、挑战与根因反思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目标 vs 实际（KPI仪表盘）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年度核心业绩达成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PingFang SC"/>
              </a:rPr>
              <a:t>02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PingFang SC"/>
              </a:rPr>
              <a:t>所有KPI均经财务与审计双口径校验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308283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2" y="2057400"/>
            <a:ext cx="2331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01</a:t>
            </a:r>
          </a:p>
        </p:txBody>
      </p:sp>
      <p:sp>
        <p:nvSpPr>
          <p:cNvPr id="14" name="Hexagon 13"/>
          <p:cNvSpPr/>
          <p:nvPr/>
        </p:nvSpPr>
        <p:spPr>
          <a:xfrm>
            <a:off x="2679191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1872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营收达¥2.86亿，完成率103%（+¥820万超额）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4480560"/>
            <a:ext cx="2743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9072" y="4645152"/>
            <a:ext cx="27432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84832" y="4754880"/>
            <a:ext cx="274320" cy="2743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75304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21024" y="2057400"/>
            <a:ext cx="233172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02</a:t>
            </a:r>
          </a:p>
        </p:txBody>
      </p:sp>
      <p:sp>
        <p:nvSpPr>
          <p:cNvPr id="23" name="Hexagon 22"/>
          <p:cNvSpPr/>
          <p:nvPr/>
        </p:nvSpPr>
        <p:spPr>
          <a:xfrm>
            <a:off x="5266944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9624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4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新客获取量12.7万，同比增长29%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41064" y="4297680"/>
            <a:ext cx="2743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6824" y="4517136"/>
            <a:ext cx="274320" cy="51206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72584" y="4663440"/>
            <a:ext cx="274320" cy="36576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63056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2057400"/>
            <a:ext cx="2331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03</a:t>
            </a:r>
          </a:p>
        </p:txBody>
      </p:sp>
      <p:sp>
        <p:nvSpPr>
          <p:cNvPr id="32" name="Hexagon 31"/>
          <p:cNvSpPr/>
          <p:nvPr/>
        </p:nvSpPr>
        <p:spPr>
          <a:xfrm>
            <a:off x="7854696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37376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客户留存率86.4%，提升3.2pct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8816" y="4572000"/>
            <a:ext cx="2743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94576" y="4709160"/>
            <a:ext cx="27432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0336" y="4800600"/>
            <a:ext cx="274320" cy="22860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96528" y="2057400"/>
            <a:ext cx="233172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04</a:t>
            </a:r>
          </a:p>
        </p:txBody>
      </p:sp>
      <p:sp>
        <p:nvSpPr>
          <p:cNvPr id="41" name="Hexagon 40"/>
          <p:cNvSpPr/>
          <p:nvPr/>
        </p:nvSpPr>
        <p:spPr>
          <a:xfrm>
            <a:off x="10442448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5128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产品NPS达42.1，创历史新高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16568" y="4206240"/>
            <a:ext cx="27432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82328" y="4453128"/>
            <a:ext cx="274320" cy="5760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48088" y="4617720"/>
            <a:ext cx="274320" cy="41148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从交付到价值落地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关键项目里程碑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PingFang SC"/>
              </a:rPr>
              <a:t>03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PingFang SC"/>
              </a:rPr>
              <a:t>每个里程碑均设置量化验收标准并100%闭环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4624251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017520"/>
            <a:ext cx="10424160" cy="73152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2880360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611880"/>
            <a:ext cx="1865376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Q1：智能中台V3.0上线，支撑日均1.2亿次API调用</a:t>
            </a:r>
          </a:p>
        </p:txBody>
      </p:sp>
      <p:sp>
        <p:nvSpPr>
          <p:cNvPr id="19" name="Oval 18"/>
          <p:cNvSpPr/>
          <p:nvPr/>
        </p:nvSpPr>
        <p:spPr>
          <a:xfrm>
            <a:off x="33604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451860" y="2880360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15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946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067812" y="3611880"/>
            <a:ext cx="1865376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775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18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Q2：华东智造基地投产，产能提升40%，良品率升至99.6%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52160" y="2880360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68112" y="3611880"/>
            <a:ext cx="1865376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Q3：‘星火’客户成功计划覆盖TOP200客户，续约率提升至91%</a:t>
            </a:r>
          </a:p>
        </p:txBody>
      </p:sp>
      <p:sp>
        <p:nvSpPr>
          <p:cNvPr id="33" name="Oval 32"/>
          <p:cNvSpPr/>
          <p:nvPr/>
        </p:nvSpPr>
        <p:spPr>
          <a:xfrm>
            <a:off x="81610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52460" y="2880360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21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952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8412" y="3611880"/>
            <a:ext cx="1865376" cy="29260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81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24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Q4：AI客服系统全域切换，人工坐席响应时长下降57%</a:t>
            </a:r>
          </a:p>
        </p:txBody>
      </p:sp>
      <p:sp>
        <p:nvSpPr>
          <p:cNvPr id="40" name="Oval 39"/>
          <p:cNvSpPr/>
          <p:nvPr/>
        </p:nvSpPr>
        <p:spPr>
          <a:xfrm>
            <a:off x="10561320" y="2788920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52760" y="2880360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62488" y="2990088"/>
            <a:ext cx="1645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95560" y="3520440"/>
            <a:ext cx="20116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68712" y="3611880"/>
            <a:ext cx="1865376" cy="29260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363931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Step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40233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PingFang SC"/>
              </a:rPr>
              <a:t>全年：累计申请发明专利23项，软件著作权41项</a:t>
            </a:r>
          </a:p>
        </p:txBody>
      </p:sp>
      <p:sp>
        <p:nvSpPr>
          <p:cNvPr id="47" name="Diamond 46"/>
          <p:cNvSpPr/>
          <p:nvPr/>
        </p:nvSpPr>
        <p:spPr>
          <a:xfrm>
            <a:off x="10972800" y="1645920"/>
            <a:ext cx="548640" cy="548640"/>
          </a:xfrm>
          <a:prstGeom prst="diamond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457200"/>
            <a:ext cx="1371600" cy="1371600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25603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3591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人才·机制·文化三维进化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ingFang SC"/>
              </a:rPr>
              <a:t>组织能力升级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789920" y="-457200"/>
            <a:ext cx="1828800" cy="18288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-274320" y="5669280"/>
            <a:ext cx="914400" cy="914400"/>
          </a:xfrm>
          <a:prstGeom prst="diamond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人才·机制·文化三维进化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组织能力升级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PingFang SC"/>
              </a:rPr>
              <a:t>04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PingFang SC"/>
              </a:rPr>
              <a:t>组织健康度调研覆盖全员，回收率94.7%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6263640"/>
            <a:ext cx="616566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7830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1920240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2103120"/>
            <a:ext cx="640080" cy="64008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240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59669"/>
                </a:solidFill>
                <a:latin typeface="PingFang SC"/>
              </a:rPr>
              <a:t>💡</a:t>
            </a:r>
          </a:p>
        </p:txBody>
      </p:sp>
      <p:sp>
        <p:nvSpPr>
          <p:cNvPr id="18" name="Oval 17"/>
          <p:cNvSpPr/>
          <p:nvPr/>
        </p:nvSpPr>
        <p:spPr>
          <a:xfrm>
            <a:off x="5285232" y="1920240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04104" y="20025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0512" y="205740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启动‘领航者’高潜梯队计划，内部晋升占比达68%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78308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92024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2402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59669"/>
                </a:solidFill>
                <a:latin typeface="PingFang SC"/>
              </a:rPr>
              <a:t>📊</a:t>
            </a:r>
          </a:p>
        </p:txBody>
      </p:sp>
      <p:sp>
        <p:nvSpPr>
          <p:cNvPr id="25" name="Oval 24"/>
          <p:cNvSpPr/>
          <p:nvPr/>
        </p:nvSpPr>
        <p:spPr>
          <a:xfrm>
            <a:off x="10698480" y="1920240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17352" y="20025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05740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推行OKR+敏捷双轨制，跨部门协作效率提升35%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52044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" y="3657600"/>
            <a:ext cx="73152" cy="1143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7552" y="3840480"/>
            <a:ext cx="640080" cy="64008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59669"/>
                </a:solidFill>
                <a:latin typeface="PingFang SC"/>
              </a:rPr>
              <a:t>🎯</a:t>
            </a:r>
          </a:p>
        </p:txBody>
      </p:sp>
      <p:sp>
        <p:nvSpPr>
          <p:cNvPr id="32" name="Oval 31"/>
          <p:cNvSpPr/>
          <p:nvPr/>
        </p:nvSpPr>
        <p:spPr>
          <a:xfrm>
            <a:off x="5285232" y="3657600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4104" y="373989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0512" y="3794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上线学习平台‘知行社’，人均学习时长42小时/年（+21%）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520440"/>
            <a:ext cx="50749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365760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3840480"/>
            <a:ext cx="640080" cy="64008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3977639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59669"/>
                </a:solidFill>
                <a:latin typeface="PingFang SC"/>
              </a:rPr>
              <a:t>⚡</a:t>
            </a:r>
          </a:p>
        </p:txBody>
      </p:sp>
      <p:sp>
        <p:nvSpPr>
          <p:cNvPr id="39" name="Oval 38"/>
          <p:cNvSpPr/>
          <p:nvPr/>
        </p:nvSpPr>
        <p:spPr>
          <a:xfrm>
            <a:off x="10698480" y="3657600"/>
            <a:ext cx="347472" cy="34747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17352" y="373989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794760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员工敬业度eNPS达+52（行业平均+31）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声音即方向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客户与市场反馈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PingFang SC"/>
              </a:rPr>
              <a:t>05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PingFang SC"/>
              </a:rPr>
              <a:t>数据源自CRM系统、第三方调研及舆情监测平台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770708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" y="1783080"/>
            <a:ext cx="5120640" cy="4572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PingFang SC"/>
              </a:rPr>
              <a:t>✦ 核心要点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560320"/>
            <a:ext cx="457200" cy="4572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670048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PingFang S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514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客户满意度CSAT：92.3%（同比+4.1pct）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840479"/>
            <a:ext cx="457200" cy="4572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3950207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9669"/>
                </a:solidFill>
                <a:latin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947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TOP50客户主动推荐率提升至76%（净推荐客户+132家）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73736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1783080"/>
            <a:ext cx="5120640" cy="457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PingFang SC"/>
              </a:rPr>
              <a:t>✦ 延伸分析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560320"/>
            <a:ext cx="457200" cy="4572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670048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PingFang S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514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行业媒体正面报道量增长150%，品牌搜索指数+89%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3840479"/>
            <a:ext cx="457200" cy="45720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950207"/>
            <a:ext cx="1371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4B8A6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79475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F172A"/>
                </a:solidFill>
                <a:latin typeface="PingFang SC"/>
              </a:rPr>
              <a:t>竞对对比：在交付时效、定制响应、服务稳定性三项领先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6263640"/>
            <a:ext cx="7707085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稳健性·可持续性·杠杆力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财务健康度分析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PingFang SC"/>
              </a:rPr>
              <a:t>06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PingFang SC"/>
              </a:rPr>
              <a:t>符合IFRS 9与新收入准则披露要求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924850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2" y="2057400"/>
            <a:ext cx="2331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01</a:t>
            </a:r>
          </a:p>
        </p:txBody>
      </p:sp>
      <p:sp>
        <p:nvSpPr>
          <p:cNvPr id="14" name="Hexagon 13"/>
          <p:cNvSpPr/>
          <p:nvPr/>
        </p:nvSpPr>
        <p:spPr>
          <a:xfrm>
            <a:off x="2679191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1872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毛利率稳定在58.2%，高于行业均值7.3pct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4480560"/>
            <a:ext cx="27432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9072" y="4645152"/>
            <a:ext cx="274320" cy="3840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84832" y="4754880"/>
            <a:ext cx="274320" cy="27432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75304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21024" y="2057400"/>
            <a:ext cx="233172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9624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02</a:t>
            </a:r>
          </a:p>
        </p:txBody>
      </p:sp>
      <p:sp>
        <p:nvSpPr>
          <p:cNvPr id="23" name="Hexagon 22"/>
          <p:cNvSpPr/>
          <p:nvPr/>
        </p:nvSpPr>
        <p:spPr>
          <a:xfrm>
            <a:off x="5266944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9624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03904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经营性现金流净额¥6,240万，同比增长22%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41064" y="4297680"/>
            <a:ext cx="2743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6824" y="4517136"/>
            <a:ext cx="274320" cy="512063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72584" y="4663440"/>
            <a:ext cx="274320" cy="36576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63056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8776" y="2057400"/>
            <a:ext cx="23317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03</a:t>
            </a:r>
          </a:p>
        </p:txBody>
      </p:sp>
      <p:sp>
        <p:nvSpPr>
          <p:cNvPr id="32" name="Hexagon 31"/>
          <p:cNvSpPr/>
          <p:nvPr/>
        </p:nvSpPr>
        <p:spPr>
          <a:xfrm>
            <a:off x="7854696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37376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应收账款周转天数压缩至41天（-9天）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28816" y="4572000"/>
            <a:ext cx="2743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94576" y="4709160"/>
            <a:ext cx="27432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0336" y="4800600"/>
            <a:ext cx="274320" cy="22860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50808" y="2011680"/>
            <a:ext cx="2423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96528" y="2057400"/>
            <a:ext cx="233172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24688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059669"/>
                </a:solidFill>
                <a:latin typeface="PingFang SC"/>
              </a:rPr>
              <a:t>04</a:t>
            </a:r>
          </a:p>
        </p:txBody>
      </p:sp>
      <p:sp>
        <p:nvSpPr>
          <p:cNvPr id="41" name="Hexagon 40"/>
          <p:cNvSpPr/>
          <p:nvPr/>
        </p:nvSpPr>
        <p:spPr>
          <a:xfrm>
            <a:off x="10442448" y="2377440"/>
            <a:ext cx="502920" cy="502920"/>
          </a:xfrm>
          <a:prstGeom prst="hexagon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5128" y="3200400"/>
            <a:ext cx="1874519" cy="228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3474720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172A"/>
                </a:solidFill>
                <a:latin typeface="PingFang SC"/>
              </a:rPr>
              <a:t>研发投入占比14.7%，资本化率严格控制在32%以内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16568" y="4206240"/>
            <a:ext cx="274320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82328" y="4453128"/>
            <a:ext cx="274320" cy="5760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48088" y="4617720"/>
            <a:ext cx="274320" cy="411480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5029200" y="457200"/>
            <a:ext cx="1371600" cy="1371600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25603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35915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三个聚焦 · 五大引擎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92608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PingFang SC"/>
              </a:rPr>
              <a:t>2025战略行动路线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840480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57200"/>
            <a:ext cx="155448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539496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PingFang SC"/>
              </a:rPr>
              <a:t>三个聚焦 · 五大引擎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0F172A"/>
                </a:solidFill>
                <a:latin typeface="PingFang SC"/>
              </a:rPr>
              <a:t>2025战略行动路线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217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75569"/>
                </a:solidFill>
                <a:latin typeface="PingFang SC"/>
              </a:rPr>
              <a:t>07 / 07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475569"/>
                </a:solidFill>
                <a:latin typeface="PingFang SC"/>
              </a:rPr>
              <a:t>每项行动均匹配资源预算、责任主体与季度里程碑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6263640"/>
            <a:ext cx="107899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" y="2267712"/>
            <a:ext cx="1719072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59669"/>
                </a:solidFill>
                <a:latin typeface="PingFang SC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聚焦客户成功：上线客户健康度AI预警平台（Q1）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811779" y="3291840"/>
            <a:ext cx="480060" cy="457200"/>
          </a:xfrm>
          <a:prstGeom prst="rightArrow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18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06724" y="2267712"/>
            <a:ext cx="1719072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04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62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59669"/>
                </a:solidFill>
                <a:latin typeface="PingFang SC"/>
              </a:rPr>
              <a:t>⚙️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90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聚焦技术纵深：启动‘磐石’可信AI工程计划（Q2）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3291840"/>
            <a:ext cx="480060" cy="457200"/>
          </a:xfrm>
          <a:prstGeom prst="rightArrow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07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35624" y="2267712"/>
            <a:ext cx="1719072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59669"/>
                </a:solidFill>
                <a:latin typeface="PingFang SC"/>
              </a:rP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聚焦生态协同：共建3个垂直行业联合解决方案中心（H2）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069580" y="3291840"/>
            <a:ext cx="480060" cy="457200"/>
          </a:xfrm>
          <a:prstGeom prst="rightArrow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09660" y="2194560"/>
            <a:ext cx="1828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64524" y="2267712"/>
            <a:ext cx="1719072" cy="5029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826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4020" y="2971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59669"/>
                </a:solidFill>
                <a:latin typeface="PingFang SC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6820" y="356616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PingFang SC"/>
              </a:rPr>
              <a:t>引擎1：全球化本地化双模出海；引擎2：订阅制收入占比提升至35%；引擎3：数据资产入表试点；引擎4：碳足迹数字化管理平台；引擎5：青年科学家工作站扩容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4572000"/>
            <a:ext cx="1828800" cy="18288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3200400"/>
            <a:ext cx="3657600" cy="3657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5486400" y="457200"/>
            <a:ext cx="914400" cy="914400"/>
          </a:xfrm>
          <a:prstGeom prst="diamond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PingFang SC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7F3D0"/>
                </a:solidFill>
                <a:latin typeface="PingFang SC"/>
              </a:rPr>
              <a:t>谢谢观看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383280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3657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7F3D0"/>
                </a:solidFill>
                <a:latin typeface="PingFang SC"/>
              </a:rPr>
              <a:t>Powered by 灵犀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1148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7F3D0"/>
                </a:solidFill>
                <a:latin typeface="PingFang SC"/>
              </a:rPr>
              <a:t>2024年度全景总结报告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1772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940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35240" y="5029200"/>
            <a:ext cx="109728" cy="109728"/>
          </a:xfrm>
          <a:prstGeom prst="ellipse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